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714" r:id="rId4"/>
    <p:sldMasterId id="2147483749" r:id="rId5"/>
    <p:sldMasterId id="2147483767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EAB87AD-9011-43F1-847B-A8C007AA8B0E}">
          <p14:sldIdLst>
            <p14:sldId id="256"/>
          </p14:sldIdLst>
        </p14:section>
        <p14:section name="Untitled Section" id="{089D1080-8198-4355-A9B6-7D386C34262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57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28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69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2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81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46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30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56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16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71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201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963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862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376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285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853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005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7102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446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100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560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996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657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177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497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878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1177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5003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00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290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7820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342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6600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8803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46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6180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861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2978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21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326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40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2058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0462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132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3775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435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1340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2932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8065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17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5086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73702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3402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3303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2549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2380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6545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9013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1785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7676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68042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917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61556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86573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3194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87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683529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5161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9755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2796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81152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551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9195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15125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4052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57164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81065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52460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6047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69250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59969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9487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88344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83631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48439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56504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76674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1580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31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76.xml"/><Relationship Id="rId21" Type="http://schemas.openxmlformats.org/officeDocument/2006/relationships/image" Target="../media/image14.png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89.xml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3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Relationship Id="rId22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60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73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76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868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74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06EE87D-1960-42E1-B276-5E0E4256B5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7F0BB-DE08-4249-8B25-6EDB99B42F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51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9759663/?utm_source=chatgpt.com" TargetMode="External"/><Relationship Id="rId1" Type="http://schemas.openxmlformats.org/officeDocument/2006/relationships/slideLayout" Target="../slideLayouts/slideLayout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6C4B-E35F-B3AD-B7C2-3066022EB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Fake News image </a:t>
            </a:r>
            <a:r>
              <a:rPr lang="en-IN" dirty="0" err="1"/>
              <a:t>analyzer</a:t>
            </a:r>
            <a:r>
              <a:rPr lang="en-IN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7F83A-B8C3-85D6-FC4A-C2A5E1295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AIML PROJECT </a:t>
            </a:r>
          </a:p>
          <a:p>
            <a:r>
              <a:rPr lang="en-IN" dirty="0"/>
              <a:t>TEAM NO.22</a:t>
            </a:r>
          </a:p>
        </p:txBody>
      </p:sp>
    </p:spTree>
    <p:extLst>
      <p:ext uri="{BB962C8B-B14F-4D97-AF65-F5344CB8AC3E}">
        <p14:creationId xmlns:p14="http://schemas.microsoft.com/office/powerpoint/2010/main" val="4178184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649B-7D6F-61B6-DDCE-6152E4A1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members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3814-95FE-001A-FCB4-35CA18BF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1) </a:t>
            </a:r>
            <a:r>
              <a:rPr lang="en-IN" dirty="0" err="1"/>
              <a:t>Vishvak</a:t>
            </a:r>
            <a:r>
              <a:rPr lang="en-IN" dirty="0"/>
              <a:t> </a:t>
            </a:r>
            <a:r>
              <a:rPr lang="en-IN" dirty="0" err="1"/>
              <a:t>sai</a:t>
            </a:r>
            <a:r>
              <a:rPr lang="en-IN" dirty="0"/>
              <a:t> – 2420090024.</a:t>
            </a:r>
          </a:p>
          <a:p>
            <a:r>
              <a:rPr lang="en-IN" dirty="0"/>
              <a:t>2) Chava Charan </a:t>
            </a:r>
            <a:r>
              <a:rPr lang="en-IN" dirty="0" err="1"/>
              <a:t>teja</a:t>
            </a:r>
            <a:r>
              <a:rPr lang="en-IN" dirty="0"/>
              <a:t> – 2420090022.</a:t>
            </a:r>
          </a:p>
          <a:p>
            <a:r>
              <a:rPr lang="en-IN" dirty="0"/>
              <a:t>3) </a:t>
            </a:r>
            <a:r>
              <a:rPr lang="en-IN" dirty="0" err="1"/>
              <a:t>Chitkula</a:t>
            </a:r>
            <a:r>
              <a:rPr lang="en-IN" dirty="0"/>
              <a:t> Srikar - 2420090025</a:t>
            </a:r>
          </a:p>
        </p:txBody>
      </p:sp>
    </p:spTree>
    <p:extLst>
      <p:ext uri="{BB962C8B-B14F-4D97-AF65-F5344CB8AC3E}">
        <p14:creationId xmlns:p14="http://schemas.microsoft.com/office/powerpoint/2010/main" val="24600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29E9-5AD4-C7BC-C9FC-21AA749D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Fake News Image </a:t>
            </a:r>
            <a:r>
              <a:rPr lang="en-IN" dirty="0" err="1"/>
              <a:t>analyzer</a:t>
            </a:r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09713-A5A1-29AF-65F3-A601A337B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: </a:t>
            </a:r>
          </a:p>
          <a:p>
            <a:endParaRPr lang="en-US" dirty="0"/>
          </a:p>
          <a:p>
            <a:r>
              <a:rPr lang="en-US" dirty="0"/>
              <a:t>Fake news is a major challenge in online platforms.</a:t>
            </a:r>
          </a:p>
          <a:p>
            <a:r>
              <a:rPr lang="en-US" dirty="0"/>
              <a:t>Often spread using </a:t>
            </a:r>
            <a:r>
              <a:rPr lang="en-US" b="1" dirty="0"/>
              <a:t>images + text</a:t>
            </a:r>
            <a:r>
              <a:rPr lang="en-US" dirty="0"/>
              <a:t> to appear more convincing.</a:t>
            </a:r>
          </a:p>
          <a:p>
            <a:r>
              <a:rPr lang="en-US" dirty="0"/>
              <a:t>Traditional detectors → focus mostly on text.</a:t>
            </a:r>
          </a:p>
          <a:p>
            <a:r>
              <a:rPr lang="en-US" dirty="0"/>
              <a:t>This paper proposes a </a:t>
            </a:r>
            <a:r>
              <a:rPr lang="en-US" b="1" dirty="0"/>
              <a:t>multimodal approach</a:t>
            </a:r>
            <a:r>
              <a:rPr lang="en-US" dirty="0"/>
              <a:t>: combining </a:t>
            </a:r>
            <a:r>
              <a:rPr lang="en-US" i="1" dirty="0"/>
              <a:t>textual</a:t>
            </a:r>
            <a:r>
              <a:rPr lang="en-US" dirty="0"/>
              <a:t> and </a:t>
            </a:r>
            <a:r>
              <a:rPr lang="en-US" i="1" dirty="0"/>
              <a:t>visual</a:t>
            </a:r>
            <a:r>
              <a:rPr lang="en-US" dirty="0"/>
              <a:t> clues, plus their </a:t>
            </a:r>
            <a:r>
              <a:rPr lang="en-US" b="1" dirty="0"/>
              <a:t>consistency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82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3E24-1F1D-483E-E0AB-A31E1989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5D4D-68BA-2DA6-1DD5-7B3817BCB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The research introduces a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multimodal fake news detection framework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.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Uses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image features + text features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along with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consistency checking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.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Framework learns if the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image content matches the text content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.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Tested on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Weibo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and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Twitter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datasets.</a:t>
            </a:r>
          </a:p>
          <a:p>
            <a:r>
              <a:rPr lang="en-US" dirty="0">
                <a:solidFill>
                  <a:srgbClr val="FFFFFF"/>
                </a:solidFill>
                <a:latin typeface="ui-sans-serif"/>
              </a:rPr>
              <a:t>Achieved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higher accuracy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compared to text-only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683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24A4-8A0C-1B4D-095A-83F2B439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/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68E3-FF3A-C2D6-184F-A789D7D77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FFFF"/>
                </a:solidFill>
                <a:latin typeface="ui-sans-serif"/>
              </a:rPr>
              <a:t>1. Input Data</a:t>
            </a:r>
            <a:endParaRPr lang="en-US" dirty="0">
              <a:solidFill>
                <a:srgbClr val="FFFFFF"/>
              </a:solidFill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News articles / posts (with both image + text).</a:t>
            </a:r>
          </a:p>
          <a:p>
            <a:pPr>
              <a:buNone/>
            </a:pPr>
            <a:r>
              <a:rPr lang="en-US" b="1" dirty="0">
                <a:solidFill>
                  <a:srgbClr val="FFFFFF"/>
                </a:solidFill>
                <a:latin typeface="ui-sans-serif"/>
              </a:rPr>
              <a:t>2. Feature Extraction</a:t>
            </a:r>
            <a:endParaRPr lang="en-US" dirty="0">
              <a:solidFill>
                <a:srgbClr val="FFFFFF"/>
              </a:solidFill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ui-sans-serif"/>
              </a:rPr>
              <a:t>Text features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→ Extracted using Bi-LSTM / BERT.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ui-sans-serif"/>
              </a:rPr>
              <a:t>Image features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→ Extracted using CNN (</a:t>
            </a:r>
            <a:r>
              <a:rPr lang="en-US" dirty="0" err="1">
                <a:solidFill>
                  <a:srgbClr val="FFFFFF"/>
                </a:solidFill>
                <a:latin typeface="ui-sans-serif"/>
              </a:rPr>
              <a:t>ResNet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).</a:t>
            </a:r>
          </a:p>
          <a:p>
            <a:pPr>
              <a:buNone/>
            </a:pPr>
            <a:r>
              <a:rPr lang="en-US" b="1" dirty="0">
                <a:solidFill>
                  <a:srgbClr val="FFFFFF"/>
                </a:solidFill>
                <a:latin typeface="ui-sans-serif"/>
              </a:rPr>
              <a:t>3. Consistency Module</a:t>
            </a:r>
            <a:endParaRPr lang="en-US" dirty="0">
              <a:solidFill>
                <a:srgbClr val="FFFFFF"/>
              </a:solidFill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Compares semantic meaning of image and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Identifies mismatches (e.g., wrong image used for a story).</a:t>
            </a:r>
          </a:p>
          <a:p>
            <a:pPr>
              <a:buNone/>
            </a:pPr>
            <a:r>
              <a:rPr lang="en-US" b="1" dirty="0">
                <a:solidFill>
                  <a:srgbClr val="FFFFFF"/>
                </a:solidFill>
                <a:latin typeface="ui-sans-serif"/>
              </a:rPr>
              <a:t>4. Fusion &amp; Classification</a:t>
            </a:r>
            <a:endParaRPr lang="en-US" dirty="0">
              <a:solidFill>
                <a:srgbClr val="FFFFFF"/>
              </a:solidFill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Combine textual + visual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Feed into classifier → outputs </a:t>
            </a:r>
            <a:r>
              <a:rPr lang="en-US" i="1" dirty="0">
                <a:solidFill>
                  <a:srgbClr val="FFFFFF"/>
                </a:solidFill>
                <a:latin typeface="ui-sans-serif"/>
              </a:rPr>
              <a:t>real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or </a:t>
            </a:r>
            <a:r>
              <a:rPr lang="en-US" i="1" dirty="0">
                <a:solidFill>
                  <a:srgbClr val="FFFFFF"/>
                </a:solidFill>
                <a:latin typeface="ui-sans-serif"/>
              </a:rPr>
              <a:t>fake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18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AA28-8F49-EED1-A94C-454228DC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6D9F7-E109-6876-757B-94F5E5AC1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Outperforms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text-only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and </a:t>
            </a:r>
            <a:r>
              <a:rPr lang="en-US" b="1" dirty="0">
                <a:solidFill>
                  <a:srgbClr val="FFFFFF"/>
                </a:solidFill>
                <a:latin typeface="ui-sans-serif"/>
              </a:rPr>
              <a:t>image-only</a:t>
            </a:r>
            <a:r>
              <a:rPr lang="en-US" dirty="0">
                <a:solidFill>
                  <a:srgbClr val="FFFFFF"/>
                </a:solidFill>
                <a:latin typeface="ui-sans-serif"/>
              </a:rPr>
              <a:t> 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Consistency checking improves detection significantly.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ui-sans-serif"/>
              </a:rPr>
              <a:t>Works well on multimodal social media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30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D1FB-29C5-6969-8C24-8CE5F9723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Overall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1940-B7A7-999E-EFBC-152893200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ffectLst/>
                <a:latin typeface="ui-sans-serif"/>
              </a:rPr>
              <a:t>Fake news often misuses </a:t>
            </a:r>
            <a:r>
              <a:rPr lang="en-US" b="1" dirty="0">
                <a:solidFill>
                  <a:srgbClr val="FFFFFF"/>
                </a:solidFill>
                <a:effectLst/>
                <a:latin typeface="ui-sans-serif"/>
              </a:rPr>
              <a:t>images to mislead</a:t>
            </a:r>
            <a:r>
              <a:rPr lang="en-US" dirty="0">
                <a:solidFill>
                  <a:srgbClr val="FFFFFF"/>
                </a:solidFill>
                <a:effectLst/>
                <a:latin typeface="ui-sans-serif"/>
              </a:rPr>
              <a:t> readers.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ffectLst/>
                <a:latin typeface="ui-sans-serif"/>
              </a:rPr>
              <a:t>This paper shows that checking </a:t>
            </a:r>
            <a:r>
              <a:rPr lang="en-US" b="1" dirty="0">
                <a:solidFill>
                  <a:srgbClr val="FFFFFF"/>
                </a:solidFill>
                <a:effectLst/>
                <a:latin typeface="ui-sans-serif"/>
              </a:rPr>
              <a:t>image–text consistency</a:t>
            </a:r>
            <a:r>
              <a:rPr lang="en-US" dirty="0">
                <a:solidFill>
                  <a:srgbClr val="FFFFFF"/>
                </a:solidFill>
                <a:effectLst/>
                <a:latin typeface="ui-sans-serif"/>
              </a:rPr>
              <a:t> is key.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ffectLst/>
                <a:latin typeface="ui-sans-serif"/>
              </a:rPr>
              <a:t>Multimodal approaches (image + text) are </a:t>
            </a:r>
            <a:r>
              <a:rPr lang="en-US" b="1" dirty="0">
                <a:solidFill>
                  <a:srgbClr val="FFFFFF"/>
                </a:solidFill>
                <a:effectLst/>
                <a:latin typeface="ui-sans-serif"/>
              </a:rPr>
              <a:t>more reliable</a:t>
            </a:r>
            <a:r>
              <a:rPr lang="en-US" dirty="0">
                <a:solidFill>
                  <a:srgbClr val="FFFFFF"/>
                </a:solidFill>
                <a:effectLst/>
                <a:latin typeface="ui-sans-serif"/>
              </a:rPr>
              <a:t> than single-mode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ffectLst/>
                <a:latin typeface="ui-sans-serif"/>
              </a:rPr>
              <a:t>Useful for </a:t>
            </a:r>
            <a:r>
              <a:rPr lang="en-US" b="1" dirty="0">
                <a:solidFill>
                  <a:srgbClr val="FFFFFF"/>
                </a:solidFill>
                <a:effectLst/>
                <a:latin typeface="ui-sans-serif"/>
              </a:rPr>
              <a:t>journalism, fact-checking, and social media monitoring</a:t>
            </a:r>
            <a:r>
              <a:rPr lang="en-US" dirty="0">
                <a:solidFill>
                  <a:srgbClr val="FFFFFF"/>
                </a:solidFill>
                <a:effectLst/>
                <a:latin typeface="ui-sans-serif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96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C126-8163-49B4-F5B7-0F7E43FB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15276-1012-622F-3231-072EFDBFD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FF"/>
                </a:solidFill>
                <a:latin typeface="ui-sans-serif"/>
              </a:rPr>
              <a:t>Xue, J., Li, J., &amp; Li, C. (2021). </a:t>
            </a:r>
            <a:r>
              <a:rPr lang="en-IN" i="1" dirty="0">
                <a:solidFill>
                  <a:srgbClr val="FFFFFF"/>
                </a:solidFill>
                <a:latin typeface="ui-sans-serif"/>
              </a:rPr>
              <a:t>Detecting fake news by exploring the consistency of multimodal data (image + text)</a:t>
            </a:r>
            <a:r>
              <a:rPr lang="en-IN" dirty="0">
                <a:solidFill>
                  <a:srgbClr val="FFFFFF"/>
                </a:solidFill>
                <a:latin typeface="ui-sans-serif"/>
              </a:rPr>
              <a:t>. </a:t>
            </a:r>
            <a:r>
              <a:rPr lang="en-IN" b="1" dirty="0" err="1">
                <a:solidFill>
                  <a:srgbClr val="FFFFFF"/>
                </a:solidFill>
                <a:latin typeface="ui-sans-serif"/>
              </a:rPr>
              <a:t>PeerJ</a:t>
            </a:r>
            <a:r>
              <a:rPr lang="en-IN" b="1" dirty="0">
                <a:solidFill>
                  <a:srgbClr val="FFFFFF"/>
                </a:solidFill>
                <a:latin typeface="ui-sans-serif"/>
              </a:rPr>
              <a:t> Computer Science</a:t>
            </a:r>
            <a:r>
              <a:rPr lang="en-IN" dirty="0">
                <a:solidFill>
                  <a:srgbClr val="FFFFFF"/>
                </a:solidFill>
                <a:latin typeface="ui-sans-serif"/>
              </a:rPr>
              <a:t>, 7:e536. </a:t>
            </a:r>
            <a:r>
              <a:rPr lang="en-IN" dirty="0">
                <a:solidFill>
                  <a:srgbClr val="FFFFFF"/>
                </a:solidFill>
                <a:latin typeface="ui-sans-serif"/>
                <a:hlinkClick r:id="rId2"/>
              </a:rPr>
              <a:t>Link to paper</a:t>
            </a:r>
            <a:endParaRPr lang="en-IN" dirty="0">
              <a:solidFill>
                <a:srgbClr val="FFFFFF"/>
              </a:solidFill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FF"/>
                </a:solidFill>
                <a:latin typeface="ui-sans-serif"/>
              </a:rPr>
              <a:t>Additional references: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FF"/>
                </a:solidFill>
                <a:latin typeface="ui-sans-serif"/>
              </a:rPr>
              <a:t>Zhou, X., &amp; </a:t>
            </a:r>
            <a:r>
              <a:rPr lang="en-IN" dirty="0" err="1">
                <a:solidFill>
                  <a:srgbClr val="FFFFFF"/>
                </a:solidFill>
                <a:latin typeface="ui-sans-serif"/>
              </a:rPr>
              <a:t>Zafarani</a:t>
            </a:r>
            <a:r>
              <a:rPr lang="en-IN" dirty="0">
                <a:solidFill>
                  <a:srgbClr val="FFFFFF"/>
                </a:solidFill>
                <a:latin typeface="ui-sans-serif"/>
              </a:rPr>
              <a:t>, R. (2019). </a:t>
            </a:r>
            <a:r>
              <a:rPr lang="en-IN" i="1" dirty="0">
                <a:solidFill>
                  <a:srgbClr val="FFFFFF"/>
                </a:solidFill>
                <a:latin typeface="ui-sans-serif"/>
              </a:rPr>
              <a:t>Fake News: A Survey of Research, Detection Methods, and Opportunities</a:t>
            </a:r>
            <a:r>
              <a:rPr lang="en-IN" dirty="0">
                <a:solidFill>
                  <a:srgbClr val="FFFFFF"/>
                </a:solidFill>
                <a:latin typeface="ui-sans-serif"/>
              </a:rPr>
              <a:t>. ACM Computing Surveys.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FF"/>
                </a:solidFill>
                <a:latin typeface="ui-sans-serif"/>
              </a:rPr>
              <a:t>Hu, L. et al. (2022). </a:t>
            </a:r>
            <a:r>
              <a:rPr lang="en-IN" i="1" dirty="0">
                <a:solidFill>
                  <a:srgbClr val="FFFFFF"/>
                </a:solidFill>
                <a:latin typeface="ui-sans-serif"/>
              </a:rPr>
              <a:t>Multimodal Matching-aware Co-attention Networks for Fake News Detection</a:t>
            </a:r>
            <a:r>
              <a:rPr lang="en-IN" dirty="0">
                <a:solidFill>
                  <a:srgbClr val="FFFFFF"/>
                </a:solidFill>
                <a:latin typeface="ui-sans-serif"/>
              </a:rPr>
              <a:t>. arXiv:2212.05699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14698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4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5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6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388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</vt:i4>
      </vt:variant>
    </vt:vector>
  </HeadingPairs>
  <TitlesOfParts>
    <vt:vector size="25" baseType="lpstr">
      <vt:lpstr>Arial</vt:lpstr>
      <vt:lpstr>Calibri</vt:lpstr>
      <vt:lpstr>Calibri Light</vt:lpstr>
      <vt:lpstr>Calisto MT</vt:lpstr>
      <vt:lpstr>Century Gothic</vt:lpstr>
      <vt:lpstr>Gill Sans MT</vt:lpstr>
      <vt:lpstr>Tw Cen MT</vt:lpstr>
      <vt:lpstr>Tw Cen MT Condensed</vt:lpstr>
      <vt:lpstr>ui-sans-serif</vt:lpstr>
      <vt:lpstr>Wingdings 2</vt:lpstr>
      <vt:lpstr>Wingdings 3</vt:lpstr>
      <vt:lpstr>Gallery</vt:lpstr>
      <vt:lpstr>Integral</vt:lpstr>
      <vt:lpstr>Ion Boardroom</vt:lpstr>
      <vt:lpstr>Celestial</vt:lpstr>
      <vt:lpstr>Slate</vt:lpstr>
      <vt:lpstr>Ion</vt:lpstr>
      <vt:lpstr>Fake News image analyzer.</vt:lpstr>
      <vt:lpstr>Team members : </vt:lpstr>
      <vt:lpstr>Fake News Image analyzer.</vt:lpstr>
      <vt:lpstr> ABSTRACT</vt:lpstr>
      <vt:lpstr>Process / Methodology</vt:lpstr>
      <vt:lpstr>Results</vt:lpstr>
      <vt:lpstr>Overall 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BODAVULA VISHVAK</dc:creator>
  <cp:lastModifiedBy>BODAVULA VISHVAK</cp:lastModifiedBy>
  <cp:revision>1</cp:revision>
  <dcterms:created xsi:type="dcterms:W3CDTF">2025-09-12T04:55:13Z</dcterms:created>
  <dcterms:modified xsi:type="dcterms:W3CDTF">2025-11-04T04:04:01Z</dcterms:modified>
</cp:coreProperties>
</file>